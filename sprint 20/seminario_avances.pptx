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DDD8D4"/>
                </a:solidFill>
                <a:latin typeface="Calibri"/>
              </a:rPr>
              <a:t>SEMINARIO DE AVANCES · PROYECTOS DE INVESTIGACIÓN EN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14984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3100" b="1">
                <a:solidFill>
                  <a:srgbClr val="FFFFFF"/>
                </a:solidFill>
                <a:latin typeface="Calibri"/>
              </a:rPr>
              <a:t>Ciclos de feedback entre clientes y equipos de desarrollo en contextos de uso de IA generativa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3248" y="3886200"/>
            <a:ext cx="1371600" cy="50800"/>
          </a:xfrm>
          <a:prstGeom prst="rect">
            <a:avLst/>
          </a:prstGeom>
          <a:solidFill>
            <a:srgbClr val="BF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149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María Victoria Chappuis Adorni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EDEAE2"/>
                </a:solidFill>
                <a:latin typeface="Calibri"/>
              </a:rPr>
              <a:t>Tutor: Dr. Ing. Daniel Calegari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89320"/>
            <a:ext cx="10149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DDD8D4"/>
                </a:solidFill>
                <a:latin typeface="Calibri"/>
              </a:rPr>
              <a:t>Universidad ORT Uruguay · Facultad de Ingeniería ·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661020"/>
                </a:solidFill>
                <a:latin typeface="Calibri"/>
              </a:rPr>
              <a:t>Propósito del proyecto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371600" cy="44450"/>
          </a:xfrm>
          <a:prstGeom prst="rect">
            <a:avLst/>
          </a:prstGeom>
          <a:solidFill>
            <a:srgbClr val="BF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201400" cy="960120"/>
          </a:xfrm>
          <a:prstGeom prst="roundRect">
            <a:avLst/>
          </a:prstGeom>
          <a:solidFill>
            <a:srgbClr val="E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52728"/>
            <a:ext cx="106984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1">
                <a:solidFill>
                  <a:srgbClr val="661020"/>
                </a:solidFill>
                <a:latin typeface="Calibri"/>
              </a:rPr>
              <a:t>¿Cómo se reconfiguran los ciclos de feedback entre clientes y equipos de desarrollo durante la implementación y validación de software cuando se incorporan herramientas de IA generativa?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103120" cy="868680"/>
          </a:xfrm>
          <a:prstGeom prst="roundRect">
            <a:avLst/>
          </a:prstGeom>
          <a:solidFill>
            <a:srgbClr val="66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10312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Cliente / negocio</a:t>
            </a:r>
          </a:p>
        </p:txBody>
      </p:sp>
      <p:sp>
        <p:nvSpPr>
          <p:cNvPr id="8" name="Left-Right Arrow 7"/>
          <p:cNvSpPr/>
          <p:nvPr/>
        </p:nvSpPr>
        <p:spPr>
          <a:xfrm>
            <a:off x="2834640" y="3044952"/>
            <a:ext cx="566928" cy="274320"/>
          </a:xfrm>
          <a:prstGeom prst="left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93008" y="2670048"/>
            <a:ext cx="1371600" cy="1014984"/>
          </a:xfrm>
          <a:prstGeom prst="ellipse">
            <a:avLst/>
          </a:prstGeom>
          <a:solidFill>
            <a:srgbClr val="BF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2670048"/>
            <a:ext cx="1371600" cy="10149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IAG</a:t>
            </a:r>
          </a:p>
        </p:txBody>
      </p:sp>
      <p:sp>
        <p:nvSpPr>
          <p:cNvPr id="11" name="Left-Right Arrow 10"/>
          <p:cNvSpPr/>
          <p:nvPr/>
        </p:nvSpPr>
        <p:spPr>
          <a:xfrm>
            <a:off x="4956048" y="3044952"/>
            <a:ext cx="566928" cy="274320"/>
          </a:xfrm>
          <a:prstGeom prst="left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14416" y="2743200"/>
            <a:ext cx="2103120" cy="868680"/>
          </a:xfrm>
          <a:prstGeom prst="roundRect">
            <a:avLst/>
          </a:prstGeom>
          <a:solidFill>
            <a:srgbClr val="66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14416" y="2743200"/>
            <a:ext cx="210312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Equipo de desarrollo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7077456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363636"/>
                </a:solidFill>
                <a:latin typeface="Calibri"/>
              </a:rPr>
              <a:t>El ciclo estudiado: el stakeholder declara qué necesita, el equipo construye y el mismo stakeholder valida lo construido.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363636"/>
                </a:solidFill>
                <a:latin typeface="Calibri"/>
              </a:rPr>
              <a:t>La IAG se instala en el medio de ese circuito; el estudio describe qué cambia.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28600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661020"/>
                </a:solidFill>
                <a:latin typeface="Calibri"/>
              </a:rPr>
              <a:t>Objetivos específicos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679192"/>
            <a:ext cx="3657600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BF2026"/>
                </a:solidFill>
                <a:latin typeface="Calibri"/>
              </a:rPr>
              <a:t>▪ </a:t>
            </a:r>
            <a:r>
              <a:rPr sz="1150" b="1">
                <a:solidFill>
                  <a:srgbClr val="363636"/>
                </a:solidFill>
                <a:latin typeface="Calibri"/>
              </a:rPr>
              <a:t>Caracterizar </a:t>
            </a:r>
            <a:r>
              <a:rPr sz="1150" b="0">
                <a:solidFill>
                  <a:srgbClr val="363636"/>
                </a:solidFill>
                <a:latin typeface="Calibri"/>
              </a:rPr>
              <a:t>las dinámicas actuales de feedback, como línea de base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BF2026"/>
                </a:solidFill>
                <a:latin typeface="Calibri"/>
              </a:rPr>
              <a:t>▪ </a:t>
            </a:r>
            <a:r>
              <a:rPr sz="1150" b="1">
                <a:solidFill>
                  <a:srgbClr val="363636"/>
                </a:solidFill>
                <a:latin typeface="Calibri"/>
              </a:rPr>
              <a:t>Identificar cambios </a:t>
            </a:r>
            <a:r>
              <a:rPr sz="1150" b="0">
                <a:solidFill>
                  <a:srgbClr val="363636"/>
                </a:solidFill>
                <a:latin typeface="Calibri"/>
              </a:rPr>
              <a:t>en frecuencia, secuencia, granularidad y temporalidad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BF2026"/>
                </a:solidFill>
                <a:latin typeface="Calibri"/>
              </a:rPr>
              <a:t>▪ </a:t>
            </a:r>
            <a:r>
              <a:rPr sz="1150" b="1">
                <a:solidFill>
                  <a:srgbClr val="363636"/>
                </a:solidFill>
                <a:latin typeface="Calibri"/>
              </a:rPr>
              <a:t>Examinar la transformación de roles: </a:t>
            </a:r>
            <a:r>
              <a:rPr sz="1150" b="0">
                <a:solidFill>
                  <a:srgbClr val="363636"/>
                </a:solidFill>
                <a:latin typeface="Calibri"/>
              </a:rPr>
              <a:t>cliente, analista funcional, equipo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BF2026"/>
                </a:solidFill>
                <a:latin typeface="Calibri"/>
              </a:rPr>
              <a:t>▪ </a:t>
            </a:r>
            <a:r>
              <a:rPr sz="1150" b="1">
                <a:solidFill>
                  <a:srgbClr val="363636"/>
                </a:solidFill>
                <a:latin typeface="Calibri"/>
              </a:rPr>
              <a:t>Analizar la validación temprana </a:t>
            </a:r>
            <a:r>
              <a:rPr sz="1150" b="0">
                <a:solidFill>
                  <a:srgbClr val="363636"/>
                </a:solidFill>
                <a:latin typeface="Calibri"/>
              </a:rPr>
              <a:t>de reglas y flujos de negocio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BF2026"/>
                </a:solidFill>
                <a:latin typeface="Calibri"/>
              </a:rPr>
              <a:t>▪ </a:t>
            </a:r>
            <a:r>
              <a:rPr sz="1150" b="1">
                <a:solidFill>
                  <a:srgbClr val="363636"/>
                </a:solidFill>
                <a:latin typeface="Calibri"/>
              </a:rPr>
              <a:t>Describir los efectos </a:t>
            </a:r>
            <a:r>
              <a:rPr sz="1150" b="0">
                <a:solidFill>
                  <a:srgbClr val="363636"/>
                </a:solidFill>
                <a:latin typeface="Calibri"/>
              </a:rPr>
              <a:t>reportados por la literatura relevada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BF2026"/>
                </a:solidFill>
                <a:latin typeface="Calibri"/>
              </a:rPr>
              <a:t>▪ </a:t>
            </a:r>
            <a:r>
              <a:rPr sz="1150" b="1">
                <a:solidFill>
                  <a:srgbClr val="363636"/>
                </a:solidFill>
                <a:latin typeface="Calibri"/>
              </a:rPr>
              <a:t>Desarrollar una PoC </a:t>
            </a:r>
            <a:r>
              <a:rPr sz="1150" b="0">
                <a:solidFill>
                  <a:srgbClr val="363636"/>
                </a:solidFill>
                <a:latin typeface="Calibri"/>
              </a:rPr>
              <a:t>exploratoria para usuarios no técnicos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989320"/>
            <a:ext cx="11201400" cy="502920"/>
          </a:xfrm>
          <a:prstGeom prst="roundRect">
            <a:avLst/>
          </a:prstGeom>
          <a:solidFill>
            <a:srgbClr val="E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16752"/>
            <a:ext cx="106984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61020"/>
                </a:solidFill>
                <a:latin typeface="Calibri"/>
              </a:rPr>
              <a:t>Alcance: feedback durante el desarrollo iterativo y aceptación sobre software ya construido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661020"/>
                </a:solidFill>
                <a:latin typeface="Calibri"/>
              </a:rPr>
              <a:t>Actividades realizadas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371600" cy="44450"/>
          </a:xfrm>
          <a:prstGeom prst="rect">
            <a:avLst/>
          </a:prstGeom>
          <a:solidFill>
            <a:srgbClr val="BF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411480" y="1371600"/>
            <a:ext cx="2359152" cy="658368"/>
          </a:xfrm>
          <a:prstGeom prst="chevron">
            <a:avLst/>
          </a:prstGeom>
          <a:solidFill>
            <a:srgbClr val="66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208483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FEB · 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2240280"/>
            <a:ext cx="2157984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661020"/>
                </a:solidFill>
                <a:latin typeface="Calibri"/>
              </a:rPr>
              <a:t>Pregunta y plan de búsqueda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2880360"/>
            <a:ext cx="2157984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BF2026"/>
                </a:solidFill>
                <a:latin typeface="Calibri"/>
              </a:rPr>
              <a:t>▪ </a:t>
            </a:r>
            <a:r>
              <a:rPr sz="1100" b="0">
                <a:solidFill>
                  <a:srgbClr val="363636"/>
                </a:solidFill>
                <a:latin typeface="Calibri"/>
              </a:rPr>
              <a:t>Pregunta + 5 subpreguntas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BF2026"/>
                </a:solidFill>
                <a:latin typeface="Calibri"/>
              </a:rPr>
              <a:t>▪ </a:t>
            </a:r>
            <a:r>
              <a:rPr sz="1100" b="0">
                <a:solidFill>
                  <a:srgbClr val="363636"/>
                </a:solidFill>
                <a:latin typeface="Calibri"/>
              </a:rPr>
              <a:t>6 strings probados, 1 elegido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BF2026"/>
                </a:solidFill>
                <a:latin typeface="Calibri"/>
              </a:rPr>
              <a:t>▪ </a:t>
            </a:r>
            <a:r>
              <a:rPr sz="1100" b="0">
                <a:solidFill>
                  <a:srgbClr val="363636"/>
                </a:solidFill>
                <a:latin typeface="Calibri"/>
              </a:rPr>
              <a:t>Criterios de inclusión y exclusión</a:t>
            </a:r>
          </a:p>
        </p:txBody>
      </p:sp>
      <p:sp>
        <p:nvSpPr>
          <p:cNvPr id="8" name="Chevron 7"/>
          <p:cNvSpPr/>
          <p:nvPr/>
        </p:nvSpPr>
        <p:spPr>
          <a:xfrm>
            <a:off x="2697480" y="1371600"/>
            <a:ext cx="2359152" cy="658368"/>
          </a:xfrm>
          <a:prstGeom prst="chevron">
            <a:avLst/>
          </a:prstGeom>
          <a:solidFill>
            <a:srgbClr val="66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8648" y="1371600"/>
            <a:ext cx="208483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MAR · JUN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5496" y="2240280"/>
            <a:ext cx="2157984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661020"/>
                </a:solidFill>
                <a:latin typeface="Calibri"/>
              </a:rPr>
              <a:t>Revisión bibliográfica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5496" y="2880360"/>
            <a:ext cx="2157984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BF2026"/>
                </a:solidFill>
                <a:latin typeface="Calibri"/>
              </a:rPr>
              <a:t>▪ </a:t>
            </a:r>
            <a:r>
              <a:rPr sz="1100" b="0">
                <a:solidFill>
                  <a:srgbClr val="363636"/>
                </a:solidFill>
                <a:latin typeface="Calibri"/>
              </a:rPr>
              <a:t>5 bases académicas + snowballing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BF2026"/>
                </a:solidFill>
                <a:latin typeface="Calibri"/>
              </a:rPr>
              <a:t>▪ </a:t>
            </a:r>
            <a:r>
              <a:rPr sz="1100" b="0">
                <a:solidFill>
                  <a:srgbClr val="363636"/>
                </a:solidFill>
                <a:latin typeface="Calibri"/>
              </a:rPr>
              <a:t>Literatura gris + 8 productos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BF2026"/>
                </a:solidFill>
                <a:latin typeface="Calibri"/>
              </a:rPr>
              <a:t>▪ </a:t>
            </a:r>
            <a:r>
              <a:rPr sz="1100" b="0">
                <a:solidFill>
                  <a:srgbClr val="363636"/>
                </a:solidFill>
                <a:latin typeface="Calibri"/>
              </a:rPr>
              <a:t>3 pasadas de screening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4983480" y="1371600"/>
            <a:ext cx="2359152" cy="658368"/>
          </a:xfrm>
          <a:prstGeom prst="chevron">
            <a:avLst/>
          </a:prstGeom>
          <a:solidFill>
            <a:srgbClr val="66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4648" y="1371600"/>
            <a:ext cx="208483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JUN · AGO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2240280"/>
            <a:ext cx="2157984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661020"/>
                </a:solidFill>
                <a:latin typeface="Calibri"/>
              </a:rPr>
              <a:t>Marco conceptual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1496" y="2880360"/>
            <a:ext cx="2157984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BF2026"/>
                </a:solidFill>
                <a:latin typeface="Calibri"/>
              </a:rPr>
              <a:t>▪ </a:t>
            </a:r>
            <a:r>
              <a:rPr sz="1100" b="0">
                <a:solidFill>
                  <a:srgbClr val="363636"/>
                </a:solidFill>
                <a:latin typeface="Calibri"/>
              </a:rPr>
              <a:t>3 versiones, cerrado con el tutor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BF2026"/>
                </a:solidFill>
                <a:latin typeface="Calibri"/>
              </a:rPr>
              <a:t>▪ </a:t>
            </a:r>
            <a:r>
              <a:rPr sz="1100" b="0">
                <a:solidFill>
                  <a:srgbClr val="363636"/>
                </a:solidFill>
                <a:latin typeface="Calibri"/>
              </a:rPr>
              <a:t>Cómo la IAG altera el ciclo de feedback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BF2026"/>
                </a:solidFill>
                <a:latin typeface="Calibri"/>
              </a:rPr>
              <a:t>▪ </a:t>
            </a:r>
            <a:r>
              <a:rPr sz="1100" b="0">
                <a:solidFill>
                  <a:srgbClr val="363636"/>
                </a:solidFill>
                <a:latin typeface="Calibri"/>
              </a:rPr>
              <a:t>Trazabilidad del corpus verificada</a:t>
            </a:r>
          </a:p>
        </p:txBody>
      </p:sp>
      <p:sp>
        <p:nvSpPr>
          <p:cNvPr id="16" name="Chevron 15"/>
          <p:cNvSpPr/>
          <p:nvPr/>
        </p:nvSpPr>
        <p:spPr>
          <a:xfrm>
            <a:off x="7269480" y="1371600"/>
            <a:ext cx="2359152" cy="658368"/>
          </a:xfrm>
          <a:prstGeom prst="chevron">
            <a:avLst/>
          </a:prstGeom>
          <a:solidFill>
            <a:srgbClr val="66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0648" y="1371600"/>
            <a:ext cx="208483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AGO · SEP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2240280"/>
            <a:ext cx="2157984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661020"/>
                </a:solidFill>
                <a:latin typeface="Calibri"/>
              </a:rPr>
              <a:t>Documento de tesis (Overleaf)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2880360"/>
            <a:ext cx="2157984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BF2026"/>
                </a:solidFill>
                <a:latin typeface="Calibri"/>
              </a:rPr>
              <a:t>▪ </a:t>
            </a:r>
            <a:r>
              <a:rPr sz="1100" b="0">
                <a:solidFill>
                  <a:srgbClr val="363636"/>
                </a:solidFill>
                <a:latin typeface="Calibri"/>
              </a:rPr>
              <a:t>Índice aprobado con el tutor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BF2026"/>
                </a:solidFill>
                <a:latin typeface="Calibri"/>
              </a:rPr>
              <a:t>▪ </a:t>
            </a:r>
            <a:r>
              <a:rPr sz="1100" b="0">
                <a:solidFill>
                  <a:srgbClr val="363636"/>
                </a:solidFill>
                <a:latin typeface="Calibri"/>
              </a:rPr>
              <a:t>~9.000 palabras · 40 referencias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BF2026"/>
                </a:solidFill>
                <a:latin typeface="Calibri"/>
              </a:rPr>
              <a:t>▪ </a:t>
            </a:r>
            <a:r>
              <a:rPr sz="1100" b="0">
                <a:solidFill>
                  <a:srgbClr val="363636"/>
                </a:solidFill>
                <a:latin typeface="Calibri"/>
              </a:rPr>
              <a:t>4 rondas de revisión interna</a:t>
            </a:r>
          </a:p>
        </p:txBody>
      </p:sp>
      <p:sp>
        <p:nvSpPr>
          <p:cNvPr id="20" name="Chevron 19"/>
          <p:cNvSpPr/>
          <p:nvPr/>
        </p:nvSpPr>
        <p:spPr>
          <a:xfrm>
            <a:off x="9555480" y="1371600"/>
            <a:ext cx="2359152" cy="658368"/>
          </a:xfrm>
          <a:prstGeom prst="chevron">
            <a:avLst/>
          </a:prstGeom>
          <a:solidFill>
            <a:srgbClr val="BF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6648" y="1371600"/>
            <a:ext cx="208483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SEP · OCT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3496" y="2240280"/>
            <a:ext cx="2157984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661020"/>
                </a:solidFill>
                <a:latin typeface="Calibri"/>
              </a:rPr>
              <a:t>Prototipo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3496" y="2880360"/>
            <a:ext cx="2157984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BF2026"/>
                </a:solidFill>
                <a:latin typeface="Calibri"/>
              </a:rPr>
              <a:t>▪ </a:t>
            </a:r>
            <a:r>
              <a:rPr sz="1100" b="0">
                <a:solidFill>
                  <a:srgbClr val="363636"/>
                </a:solidFill>
                <a:latin typeface="Calibri"/>
              </a:rPr>
              <a:t>4 ideas con demo en video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BF2026"/>
                </a:solidFill>
                <a:latin typeface="Calibri"/>
              </a:rPr>
              <a:t>▪ </a:t>
            </a:r>
            <a:r>
              <a:rPr sz="1100" b="0">
                <a:solidFill>
                  <a:srgbClr val="363636"/>
                </a:solidFill>
                <a:latin typeface="Calibri"/>
              </a:rPr>
              <a:t>1 elegida con el tutor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BF2026"/>
                </a:solidFill>
                <a:latin typeface="Calibri"/>
              </a:rPr>
              <a:t>▪ </a:t>
            </a:r>
            <a:r>
              <a:rPr sz="1100" b="0">
                <a:solidFill>
                  <a:srgbClr val="363636"/>
                </a:solidFill>
                <a:latin typeface="Calibri"/>
              </a:rPr>
              <a:t>Demo y dominio de prueba listos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00600"/>
            <a:ext cx="11201400" cy="1371600"/>
          </a:xfrm>
          <a:prstGeom prst="roundRect">
            <a:avLst/>
          </a:prstGeom>
          <a:solidFill>
            <a:srgbClr val="E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029200"/>
            <a:ext cx="2240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BF2026"/>
                </a:solidFill>
                <a:latin typeface="Calibri"/>
              </a:rPr>
              <a:t>1.750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596128"/>
            <a:ext cx="22402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63636"/>
                </a:solidFill>
                <a:latin typeface="Calibri"/>
              </a:rPr>
              <a:t>trabajos revisados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029200"/>
            <a:ext cx="2240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BF2026"/>
                </a:solidFill>
                <a:latin typeface="Calibri"/>
              </a:rPr>
              <a:t>~650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596128"/>
            <a:ext cx="22402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63636"/>
                </a:solidFill>
                <a:latin typeface="Calibri"/>
              </a:rPr>
              <a:t>refs. de snowballing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5029200"/>
            <a:ext cx="2240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BF2026"/>
                </a:solidFill>
                <a:latin typeface="Calibri"/>
              </a:rPr>
              <a:t>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5596128"/>
            <a:ext cx="22402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63636"/>
                </a:solidFill>
                <a:latin typeface="Calibri"/>
              </a:rPr>
              <a:t>trabajos en el marco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029200"/>
            <a:ext cx="2240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BF2026"/>
                </a:solidFill>
                <a:latin typeface="Calibri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596128"/>
            <a:ext cx="22402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63636"/>
                </a:solidFill>
                <a:latin typeface="Calibri"/>
              </a:rPr>
              <a:t>calls con el tutor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5029200"/>
            <a:ext cx="22402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BF2026"/>
                </a:solidFill>
                <a:latin typeface="Calibri"/>
              </a:rPr>
              <a:t>284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5596128"/>
            <a:ext cx="22402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63636"/>
                </a:solidFill>
                <a:latin typeface="Calibri"/>
              </a:rPr>
              <a:t>commits en el repo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661020"/>
                </a:solidFill>
                <a:latin typeface="Calibri"/>
              </a:rPr>
              <a:t>Estado actual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371600" cy="44450"/>
          </a:xfrm>
          <a:prstGeom prst="rect">
            <a:avLst/>
          </a:prstGeom>
          <a:solidFill>
            <a:srgbClr val="BF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661020"/>
                </a:solidFill>
                <a:latin typeface="Calibri"/>
              </a:rPr>
              <a:t>Resultados a la fecha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486400" cy="2286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BF2026"/>
                </a:solidFill>
                <a:latin typeface="Calibri"/>
              </a:rPr>
              <a:t>▪ </a:t>
            </a:r>
            <a:r>
              <a:rPr sz="1250" b="1">
                <a:solidFill>
                  <a:srgbClr val="363636"/>
                </a:solidFill>
                <a:latin typeface="Calibri"/>
              </a:rPr>
              <a:t>Marco conceptual propio cerrado: </a:t>
            </a:r>
            <a:r>
              <a:rPr sz="1250" b="0">
                <a:solidFill>
                  <a:srgbClr val="363636"/>
                </a:solidFill>
                <a:latin typeface="Calibri"/>
              </a:rPr>
              <a:t>describe el ciclo de feedback y cómo la IAG lo reconfigura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BF2026"/>
                </a:solidFill>
                <a:latin typeface="Calibri"/>
              </a:rPr>
              <a:t>▪ </a:t>
            </a:r>
            <a:r>
              <a:rPr sz="1250" b="1">
                <a:solidFill>
                  <a:srgbClr val="363636"/>
                </a:solidFill>
                <a:latin typeface="Calibri"/>
              </a:rPr>
              <a:t>Revisión bibliográfica integrada al documento, </a:t>
            </a:r>
            <a:r>
              <a:rPr sz="1250" b="0">
                <a:solidFill>
                  <a:srgbClr val="363636"/>
                </a:solidFill>
                <a:latin typeface="Calibri"/>
              </a:rPr>
              <a:t>con la vía de entrada de cada trabajo trazada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BF2026"/>
                </a:solidFill>
                <a:latin typeface="Calibri"/>
              </a:rPr>
              <a:t>▪ </a:t>
            </a:r>
            <a:r>
              <a:rPr sz="1250" b="1">
                <a:solidFill>
                  <a:srgbClr val="363636"/>
                </a:solidFill>
                <a:latin typeface="Calibri"/>
              </a:rPr>
              <a:t>Documento de tesis en redacción: </a:t>
            </a:r>
            <a:r>
              <a:rPr sz="1250" b="0">
                <a:solidFill>
                  <a:srgbClr val="363636"/>
                </a:solidFill>
                <a:latin typeface="Calibri"/>
              </a:rPr>
              <a:t>introducción, background y capítulo central escritos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661020"/>
                </a:solidFill>
                <a:latin typeface="Calibri"/>
              </a:rPr>
              <a:t>Dónde estamos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00200"/>
            <a:ext cx="5212080" cy="2286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BF2026"/>
                </a:solidFill>
                <a:latin typeface="Calibri"/>
              </a:rPr>
              <a:t>▪ </a:t>
            </a:r>
            <a:r>
              <a:rPr sz="1250" b="1">
                <a:solidFill>
                  <a:srgbClr val="363636"/>
                </a:solidFill>
                <a:latin typeface="Calibri"/>
              </a:rPr>
              <a:t>Prototipo definido y en implementación: </a:t>
            </a:r>
            <a:r>
              <a:rPr sz="1250" b="0">
                <a:solidFill>
                  <a:srgbClr val="363636"/>
                </a:solidFill>
                <a:latin typeface="Calibri"/>
              </a:rPr>
              <a:t>asistente de sesiones de feedback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BF2026"/>
                </a:solidFill>
                <a:latin typeface="Calibri"/>
              </a:rPr>
              <a:t>▪ </a:t>
            </a:r>
            <a:r>
              <a:rPr sz="1250" b="1">
                <a:solidFill>
                  <a:srgbClr val="363636"/>
                </a:solidFill>
                <a:latin typeface="Calibri"/>
              </a:rPr>
              <a:t>Ajuste metodológico acordado: </a:t>
            </a:r>
            <a:r>
              <a:rPr sz="1250" b="0">
                <a:solidFill>
                  <a:srgbClr val="363636"/>
                </a:solidFill>
                <a:latin typeface="Calibri"/>
              </a:rPr>
              <a:t>sin entrevistas; la PoC es la instancia de observación directa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BF2026"/>
                </a:solidFill>
                <a:latin typeface="Calibri"/>
              </a:rPr>
              <a:t>▪ </a:t>
            </a:r>
            <a:r>
              <a:rPr sz="1250" b="1">
                <a:solidFill>
                  <a:srgbClr val="363636"/>
                </a:solidFill>
                <a:latin typeface="Calibri"/>
              </a:rPr>
              <a:t>Revisión presentada como bibliográfica, </a:t>
            </a:r>
            <a:r>
              <a:rPr sz="1250" b="0">
                <a:solidFill>
                  <a:srgbClr val="363636"/>
                </a:solidFill>
                <a:latin typeface="Calibri"/>
              </a:rPr>
              <a:t>no como revisión sistemática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57600"/>
            <a:ext cx="11201400" cy="2103120"/>
          </a:xfrm>
          <a:prstGeom prst="roundRect">
            <a:avLst/>
          </a:prstGeom>
          <a:solidFill>
            <a:srgbClr val="66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10698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Aspectos que el relevamiento deja planteados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984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DDD8D4"/>
                </a:solidFill>
                <a:latin typeface="Calibri"/>
              </a:rPr>
              <a:t>▪ </a:t>
            </a:r>
            <a:r>
              <a:rPr sz="1200" b="0">
                <a:solidFill>
                  <a:srgbClr val="FFFFFF"/>
                </a:solidFill>
                <a:latin typeface="Calibri"/>
              </a:rPr>
              <a:t>Lo relevado se concentra en etapas tempranas y en herramientas que asisten al equipo de desarrollo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1">
                <a:solidFill>
                  <a:srgbClr val="DDD8D4"/>
                </a:solidFill>
                <a:latin typeface="Calibri"/>
              </a:rPr>
              <a:t>▪ </a:t>
            </a:r>
            <a:r>
              <a:rPr sz="1200" b="0">
                <a:solidFill>
                  <a:srgbClr val="FFFFFF"/>
                </a:solidFill>
                <a:latin typeface="Calibri"/>
              </a:rPr>
              <a:t>En lo relevado no se encontró evidencia empírica de la aceptación del stakeholder sobre software ya construido, ni de la validación de lo construido contra reglas y flujos de negocio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EDEAE2"/>
                </a:solidFill>
                <a:latin typeface="Calibri"/>
              </a:rPr>
              <a:t>La PoC explora ese espacio.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661020"/>
                </a:solidFill>
                <a:latin typeface="Calibri"/>
              </a:rPr>
              <a:t>PoC: asistente de sesiones de feedback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371600" cy="44450"/>
          </a:xfrm>
          <a:prstGeom prst="rect">
            <a:avLst/>
          </a:prstGeom>
          <a:solidFill>
            <a:srgbClr val="BF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3977639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363636"/>
                </a:solidFill>
                <a:latin typeface="Calibri"/>
              </a:rPr>
              <a:t>Escucha al cliente en la reunión, confronta cada enunciado contra la documentación del proyecto y responde al momento, con la cita exacta.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06040"/>
            <a:ext cx="3977639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BF2026"/>
                </a:solidFill>
                <a:latin typeface="Calibri"/>
              </a:rPr>
              <a:t>La devolución pasa de días a segundos.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46120"/>
            <a:ext cx="82296" cy="603504"/>
          </a:xfrm>
          <a:prstGeom prst="rect">
            <a:avLst/>
          </a:prstGeom>
          <a:solidFill>
            <a:srgbClr val="BF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3246120"/>
            <a:ext cx="3895344" cy="603504"/>
          </a:xfrm>
          <a:prstGeom prst="roundRect">
            <a:avLst/>
          </a:prstGeom>
          <a:solidFill>
            <a:srgbClr val="E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36118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BF2026"/>
                </a:solidFill>
                <a:latin typeface="Calibri"/>
              </a:rPr>
              <a:t>Choca con lo acordado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>
                <a:solidFill>
                  <a:srgbClr val="363636"/>
                </a:solidFill>
                <a:latin typeface="Calibri"/>
              </a:rPr>
              <a:t>cita el documento que contradice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995928"/>
            <a:ext cx="82296" cy="60350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5216" y="3995928"/>
            <a:ext cx="3895344" cy="603504"/>
          </a:xfrm>
          <a:prstGeom prst="roundRect">
            <a:avLst/>
          </a:prstGeom>
          <a:solidFill>
            <a:srgbClr val="E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95928"/>
            <a:ext cx="36118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2E7D4F"/>
                </a:solidFill>
                <a:latin typeface="Calibri"/>
              </a:rPr>
              <a:t>Coincide con lo acordado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>
                <a:solidFill>
                  <a:srgbClr val="363636"/>
                </a:solidFill>
                <a:latin typeface="Calibri"/>
              </a:rPr>
              <a:t>confirmación instantánea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745736"/>
            <a:ext cx="82296" cy="60350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5216" y="4745736"/>
            <a:ext cx="3895344" cy="603504"/>
          </a:xfrm>
          <a:prstGeom prst="roundRect">
            <a:avLst/>
          </a:prstGeom>
          <a:solidFill>
            <a:srgbClr val="E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45736"/>
            <a:ext cx="36118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B8860B"/>
                </a:solidFill>
                <a:latin typeface="Calibri"/>
              </a:rPr>
              <a:t>No está contemplado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>
                <a:solidFill>
                  <a:srgbClr val="363636"/>
                </a:solidFill>
                <a:latin typeface="Calibri"/>
              </a:rPr>
              <a:t>pedido nuevo, se prioriza</a:t>
            </a:r>
          </a:p>
        </p:txBody>
      </p:sp>
      <p:pic>
        <p:nvPicPr>
          <p:cNvPr id="15" name="Picture 14" descr="frame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34440"/>
            <a:ext cx="7178040" cy="4037648"/>
          </a:xfrm>
          <a:prstGeom prst="rect">
            <a:avLst/>
          </a:prstGeom>
          <a:ln w="12700">
            <a:solidFill>
              <a:srgbClr val="DDD8D4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4754880" y="5349240"/>
            <a:ext cx="7178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6B6B"/>
                </a:solidFill>
                <a:latin typeface="Calibri"/>
              </a:rPr>
              <a:t>Demo · dominio de prueba: una biblioteca universitaria y su sistema de préstamos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897880"/>
            <a:ext cx="11201400" cy="594360"/>
          </a:xfrm>
          <a:prstGeom prst="roundRect">
            <a:avLst/>
          </a:prstGeom>
          <a:solidFill>
            <a:srgbClr val="E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925312"/>
            <a:ext cx="106984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661020"/>
                </a:solidFill>
                <a:latin typeface="Calibri"/>
              </a:rPr>
              <a:t>Estado: v1 funcionando con entrada escrita y veredictos con cita verificada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661020"/>
                </a:solidFill>
                <a:latin typeface="Calibri"/>
              </a:rPr>
              <a:t>Próximos pasos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371600" cy="44450"/>
          </a:xfrm>
          <a:prstGeom prst="rect">
            <a:avLst/>
          </a:prstGeom>
          <a:solidFill>
            <a:srgbClr val="BF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737360" cy="987552"/>
          </a:xfrm>
          <a:prstGeom prst="roundRect">
            <a:avLst/>
          </a:prstGeom>
          <a:solidFill>
            <a:srgbClr val="66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73736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OCT · 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1527048"/>
            <a:ext cx="283464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661020"/>
                </a:solidFill>
                <a:latin typeface="Calibri"/>
              </a:rPr>
              <a:t>Desarrollo de la 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527048"/>
            <a:ext cx="612648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363636"/>
                </a:solidFill>
                <a:latin typeface="Calibri"/>
              </a:rPr>
              <a:t>Completar el asistente: micrófono y transcripción en vivo (la entrada escrita ya funciona)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1737360" cy="987552"/>
          </a:xfrm>
          <a:prstGeom prst="roundRect">
            <a:avLst/>
          </a:prstGeom>
          <a:solidFill>
            <a:srgbClr val="66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173736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NOV · DIC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624328"/>
            <a:ext cx="283464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661020"/>
                </a:solidFill>
                <a:latin typeface="Calibri"/>
              </a:rPr>
              <a:t>Validación de la PoC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624328"/>
            <a:ext cx="612648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363636"/>
                </a:solidFill>
                <a:latin typeface="Calibri"/>
              </a:rPr>
              <a:t>El tipo de validación está a definir con el tutor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1737360" cy="987552"/>
          </a:xfrm>
          <a:prstGeom prst="roundRect">
            <a:avLst/>
          </a:prstGeom>
          <a:solidFill>
            <a:srgbClr val="66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173736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DIC · FEB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721608"/>
            <a:ext cx="283464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661020"/>
                </a:solidFill>
                <a:latin typeface="Calibri"/>
              </a:rPr>
              <a:t>Cierre del documento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721608"/>
            <a:ext cx="612648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363636"/>
                </a:solidFill>
                <a:latin typeface="Calibri"/>
              </a:rPr>
              <a:t>Resultados de la validación, capítulo de la PoC, metodología y conclusiones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54880"/>
            <a:ext cx="1737360" cy="987552"/>
          </a:xfrm>
          <a:prstGeom prst="roundRect">
            <a:avLst/>
          </a:prstGeom>
          <a:solidFill>
            <a:srgbClr val="BF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173736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MAR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818888"/>
            <a:ext cx="283464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661020"/>
                </a:solidFill>
                <a:latin typeface="Calibri"/>
              </a:rPr>
              <a:t>Entrega 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818888"/>
            <a:ext cx="612648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363636"/>
                </a:solidFill>
                <a:latin typeface="Calibri"/>
              </a:rPr>
              <a:t>Documento completo y defensa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377440"/>
            <a:ext cx="10149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3248" y="3611880"/>
            <a:ext cx="1371600" cy="50800"/>
          </a:xfrm>
          <a:prstGeom prst="rect">
            <a:avLst/>
          </a:prstGeom>
          <a:solidFill>
            <a:srgbClr val="BF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931920"/>
            <a:ext cx="101498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0">
                <a:solidFill>
                  <a:srgbClr val="EDEAE2"/>
                </a:solidFill>
                <a:latin typeface="Calibri"/>
              </a:rPr>
              <a:t>¿Preguntas?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89320"/>
            <a:ext cx="10149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DDD8D4"/>
                </a:solidFill>
                <a:latin typeface="Calibri"/>
              </a:rPr>
              <a:t>María Victoria Chappuis Adorni · Universidad ORT Uruguay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