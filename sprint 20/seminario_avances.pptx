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6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DDD8D4"/>
                </a:solidFill>
                <a:latin typeface="Calibri"/>
              </a:rPr>
              <a:t>SEMINARIO DE AVANCES · PROYECTOS DE INVESTIGACIÓN EN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149840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3100" b="1">
                <a:solidFill>
                  <a:srgbClr val="FFFFFF"/>
                </a:solidFill>
                <a:latin typeface="Calibri"/>
              </a:rPr>
              <a:t>Ciclos de feedback entre clientes y equipos de desarrollo en contextos de uso de IA generativa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13248" y="3886200"/>
            <a:ext cx="1371600" cy="50800"/>
          </a:xfrm>
          <a:prstGeom prst="rect">
            <a:avLst/>
          </a:prstGeom>
          <a:solidFill>
            <a:srgbClr val="BF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10149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María Victoria Chappuis Adorni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EDEAE2"/>
                </a:solidFill>
                <a:latin typeface="Calibri"/>
              </a:rPr>
              <a:t>Tutor: Dr. Ing. Daniel Calegari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989320"/>
            <a:ext cx="10149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DDD8D4"/>
                </a:solidFill>
                <a:latin typeface="Calibri"/>
              </a:rPr>
              <a:t>Universidad ORT Uruguay · Facultad de Ingeniería · Octubre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661020"/>
                </a:solidFill>
                <a:latin typeface="Calibri"/>
              </a:rPr>
              <a:t>Propósito del proyecto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1371600" cy="44450"/>
          </a:xfrm>
          <a:prstGeom prst="rect">
            <a:avLst/>
          </a:prstGeom>
          <a:solidFill>
            <a:srgbClr val="BF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411480"/>
            <a:ext cx="3429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6B6B6B"/>
                </a:solidFill>
                <a:latin typeface="Calibri"/>
              </a:rPr>
              <a:t>Investigación exploratoria y descriptiva · 12 meses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201400" cy="960120"/>
          </a:xfrm>
          <a:prstGeom prst="roundRect">
            <a:avLst/>
          </a:prstGeom>
          <a:solidFill>
            <a:srgbClr val="E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252728"/>
            <a:ext cx="1069848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1" i="1">
                <a:solidFill>
                  <a:srgbClr val="661020"/>
                </a:solidFill>
                <a:latin typeface="Calibri"/>
              </a:rPr>
              <a:t>¿Cómo se reconfiguran los ciclos de feedback entre clientes y equipos de desarrollo durante la implementación y validación de software cuando se incorporan herramientas de IA generativa?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2103120" cy="868680"/>
          </a:xfrm>
          <a:prstGeom prst="roundRect">
            <a:avLst/>
          </a:prstGeom>
          <a:solidFill>
            <a:srgbClr val="66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210312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Cliente / negocio</a:t>
            </a:r>
          </a:p>
        </p:txBody>
      </p:sp>
      <p:sp>
        <p:nvSpPr>
          <p:cNvPr id="9" name="Left-Right Arrow 8"/>
          <p:cNvSpPr/>
          <p:nvPr/>
        </p:nvSpPr>
        <p:spPr>
          <a:xfrm>
            <a:off x="2834640" y="3044952"/>
            <a:ext cx="566928" cy="274320"/>
          </a:xfrm>
          <a:prstGeom prst="left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93008" y="2670048"/>
            <a:ext cx="1371600" cy="1014984"/>
          </a:xfrm>
          <a:prstGeom prst="ellipse">
            <a:avLst/>
          </a:prstGeom>
          <a:solidFill>
            <a:srgbClr val="BF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3008" y="2670048"/>
            <a:ext cx="1371600" cy="10149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IAG</a:t>
            </a:r>
          </a:p>
        </p:txBody>
      </p:sp>
      <p:sp>
        <p:nvSpPr>
          <p:cNvPr id="12" name="Left-Right Arrow 11"/>
          <p:cNvSpPr/>
          <p:nvPr/>
        </p:nvSpPr>
        <p:spPr>
          <a:xfrm>
            <a:off x="4956048" y="3044952"/>
            <a:ext cx="566928" cy="274320"/>
          </a:xfrm>
          <a:prstGeom prst="left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14416" y="2743200"/>
            <a:ext cx="2103120" cy="868680"/>
          </a:xfrm>
          <a:prstGeom prst="roundRect">
            <a:avLst/>
          </a:prstGeom>
          <a:solidFill>
            <a:srgbClr val="66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14416" y="2743200"/>
            <a:ext cx="210312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Equipo de desarrollo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886200"/>
            <a:ext cx="7077456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1">
                <a:solidFill>
                  <a:srgbClr val="363636"/>
                </a:solidFill>
                <a:latin typeface="Calibri"/>
              </a:rPr>
              <a:t>La IAG se instala en el medio del intercambio.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0">
                <a:solidFill>
                  <a:srgbClr val="363636"/>
                </a:solidFill>
                <a:latin typeface="Calibri"/>
              </a:rPr>
              <a:t>El estudio describe qué cambia en ese ciclo: quién valida, cuándo y con qué granularidad.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395728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661020"/>
                </a:solidFill>
                <a:latin typeface="Calibri"/>
              </a:rPr>
              <a:t>Objetivos específicos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788920"/>
            <a:ext cx="3657600" cy="3566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BF2026"/>
                </a:solidFill>
                <a:latin typeface="Calibri"/>
              </a:rPr>
              <a:t>▪ </a:t>
            </a:r>
            <a:r>
              <a:rPr sz="1200" b="0">
                <a:solidFill>
                  <a:srgbClr val="363636"/>
                </a:solidFill>
                <a:latin typeface="Calibri"/>
              </a:rPr>
              <a:t>Caracterizar las dinámicas de feedback técnico y de validación de negocio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BF2026"/>
                </a:solidFill>
                <a:latin typeface="Calibri"/>
              </a:rPr>
              <a:t>▪ </a:t>
            </a:r>
            <a:r>
              <a:rPr sz="1200" b="0">
                <a:solidFill>
                  <a:srgbClr val="363636"/>
                </a:solidFill>
                <a:latin typeface="Calibri"/>
              </a:rPr>
              <a:t>Identificar cambios en frecuencia, granularidad y temporalidad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BF2026"/>
                </a:solidFill>
                <a:latin typeface="Calibri"/>
              </a:rPr>
              <a:t>▪ </a:t>
            </a:r>
            <a:r>
              <a:rPr sz="1200" b="0">
                <a:solidFill>
                  <a:srgbClr val="363636"/>
                </a:solidFill>
                <a:latin typeface="Calibri"/>
              </a:rPr>
              <a:t>Examinar la transformación de roles: cliente, analista, equipo técnico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BF2026"/>
                </a:solidFill>
                <a:latin typeface="Calibri"/>
              </a:rPr>
              <a:t>▪ </a:t>
            </a:r>
            <a:r>
              <a:rPr sz="1200" b="0">
                <a:solidFill>
                  <a:srgbClr val="363636"/>
                </a:solidFill>
                <a:latin typeface="Calibri"/>
              </a:rPr>
              <a:t>Analizar la validación temprana de reglas y flujos de negocio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BF2026"/>
                </a:solidFill>
                <a:latin typeface="Calibri"/>
              </a:rPr>
              <a:t>▪ </a:t>
            </a:r>
            <a:r>
              <a:rPr sz="1200" b="0">
                <a:solidFill>
                  <a:srgbClr val="363636"/>
                </a:solidFill>
                <a:latin typeface="Calibri"/>
              </a:rPr>
              <a:t>Desarrollar una PoC para usuarios no técnicos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989320"/>
            <a:ext cx="11201400" cy="502920"/>
          </a:xfrm>
          <a:prstGeom prst="roundRect">
            <a:avLst/>
          </a:prstGeom>
          <a:solidFill>
            <a:srgbClr val="E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6016752"/>
            <a:ext cx="106984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661020"/>
                </a:solidFill>
                <a:latin typeface="Calibri"/>
              </a:rPr>
              <a:t>Dos dimensiones integradas: feedback técnico y validación de reglas y flujos de negocio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661020"/>
                </a:solidFill>
                <a:latin typeface="Calibri"/>
              </a:rPr>
              <a:t>Actividades realizadas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1371600" cy="44450"/>
          </a:xfrm>
          <a:prstGeom prst="rect">
            <a:avLst/>
          </a:prstGeom>
          <a:solidFill>
            <a:srgbClr val="BF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411480"/>
            <a:ext cx="3429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6B6B6B"/>
                </a:solidFill>
                <a:latin typeface="Calibri"/>
              </a:rPr>
              <a:t>Febrero · octubre 2026 · 20 sprints</a:t>
            </a:r>
          </a:p>
        </p:txBody>
      </p:sp>
      <p:sp>
        <p:nvSpPr>
          <p:cNvPr id="5" name="Chevron 4"/>
          <p:cNvSpPr/>
          <p:nvPr/>
        </p:nvSpPr>
        <p:spPr>
          <a:xfrm>
            <a:off x="411480" y="1371600"/>
            <a:ext cx="2359152" cy="658368"/>
          </a:xfrm>
          <a:prstGeom prst="chevron">
            <a:avLst/>
          </a:prstGeom>
          <a:solidFill>
            <a:srgbClr val="66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371600"/>
            <a:ext cx="2084832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FEB · 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240280"/>
            <a:ext cx="2157984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661020"/>
                </a:solidFill>
                <a:latin typeface="Calibri"/>
              </a:rPr>
              <a:t>Pregunta y plan de búsqueda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" y="2880360"/>
            <a:ext cx="2157984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1">
                <a:solidFill>
                  <a:srgbClr val="BF2026"/>
                </a:solidFill>
                <a:latin typeface="Calibri"/>
              </a:rPr>
              <a:t>▪ </a:t>
            </a:r>
            <a:r>
              <a:rPr sz="1100" b="0">
                <a:solidFill>
                  <a:srgbClr val="363636"/>
                </a:solidFill>
                <a:latin typeface="Calibri"/>
              </a:rPr>
              <a:t>Pregunta + 5 subpreguntas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1">
                <a:solidFill>
                  <a:srgbClr val="BF2026"/>
                </a:solidFill>
                <a:latin typeface="Calibri"/>
              </a:rPr>
              <a:t>▪ </a:t>
            </a:r>
            <a:r>
              <a:rPr sz="1100" b="0">
                <a:solidFill>
                  <a:srgbClr val="363636"/>
                </a:solidFill>
                <a:latin typeface="Calibri"/>
              </a:rPr>
              <a:t>6 strings probados, 1 elegido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1">
                <a:solidFill>
                  <a:srgbClr val="BF2026"/>
                </a:solidFill>
                <a:latin typeface="Calibri"/>
              </a:rPr>
              <a:t>▪ </a:t>
            </a:r>
            <a:r>
              <a:rPr sz="1100" b="0">
                <a:solidFill>
                  <a:srgbClr val="363636"/>
                </a:solidFill>
                <a:latin typeface="Calibri"/>
              </a:rPr>
              <a:t>Criterios de inclusión y exclusión</a:t>
            </a:r>
          </a:p>
        </p:txBody>
      </p:sp>
      <p:sp>
        <p:nvSpPr>
          <p:cNvPr id="9" name="Chevron 8"/>
          <p:cNvSpPr/>
          <p:nvPr/>
        </p:nvSpPr>
        <p:spPr>
          <a:xfrm>
            <a:off x="2697480" y="1371600"/>
            <a:ext cx="2359152" cy="658368"/>
          </a:xfrm>
          <a:prstGeom prst="chevron">
            <a:avLst/>
          </a:prstGeom>
          <a:solidFill>
            <a:srgbClr val="66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98648" y="1371600"/>
            <a:ext cx="2084832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MAR · JUN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25496" y="2240280"/>
            <a:ext cx="2157984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661020"/>
                </a:solidFill>
                <a:latin typeface="Calibri"/>
              </a:rPr>
              <a:t>Revisión bibliográfica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25496" y="2880360"/>
            <a:ext cx="2157984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1">
                <a:solidFill>
                  <a:srgbClr val="BF2026"/>
                </a:solidFill>
                <a:latin typeface="Calibri"/>
              </a:rPr>
              <a:t>▪ </a:t>
            </a:r>
            <a:r>
              <a:rPr sz="1100" b="0">
                <a:solidFill>
                  <a:srgbClr val="363636"/>
                </a:solidFill>
                <a:latin typeface="Calibri"/>
              </a:rPr>
              <a:t>5 bases académicas + snowballing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1">
                <a:solidFill>
                  <a:srgbClr val="BF2026"/>
                </a:solidFill>
                <a:latin typeface="Calibri"/>
              </a:rPr>
              <a:t>▪ </a:t>
            </a:r>
            <a:r>
              <a:rPr sz="1100" b="0">
                <a:solidFill>
                  <a:srgbClr val="363636"/>
                </a:solidFill>
                <a:latin typeface="Calibri"/>
              </a:rPr>
              <a:t>Literatura gris + 8 productos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1">
                <a:solidFill>
                  <a:srgbClr val="BF2026"/>
                </a:solidFill>
                <a:latin typeface="Calibri"/>
              </a:rPr>
              <a:t>▪ </a:t>
            </a:r>
            <a:r>
              <a:rPr sz="1100" b="0">
                <a:solidFill>
                  <a:srgbClr val="363636"/>
                </a:solidFill>
                <a:latin typeface="Calibri"/>
              </a:rPr>
              <a:t>3 pasadas de screening</a:t>
            </a:r>
          </a:p>
        </p:txBody>
      </p:sp>
      <p:sp>
        <p:nvSpPr>
          <p:cNvPr id="13" name="Chevron 12"/>
          <p:cNvSpPr/>
          <p:nvPr/>
        </p:nvSpPr>
        <p:spPr>
          <a:xfrm>
            <a:off x="4983480" y="1371600"/>
            <a:ext cx="2359152" cy="658368"/>
          </a:xfrm>
          <a:prstGeom prst="chevron">
            <a:avLst/>
          </a:prstGeom>
          <a:solidFill>
            <a:srgbClr val="66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84648" y="1371600"/>
            <a:ext cx="2084832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JUN · AGO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1496" y="2240280"/>
            <a:ext cx="2157984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661020"/>
                </a:solidFill>
                <a:latin typeface="Calibri"/>
              </a:rPr>
              <a:t>Marco conceptual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1496" y="2880360"/>
            <a:ext cx="2157984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1">
                <a:solidFill>
                  <a:srgbClr val="BF2026"/>
                </a:solidFill>
                <a:latin typeface="Calibri"/>
              </a:rPr>
              <a:t>▪ </a:t>
            </a:r>
            <a:r>
              <a:rPr sz="1100" b="0">
                <a:solidFill>
                  <a:srgbClr val="363636"/>
                </a:solidFill>
                <a:latin typeface="Calibri"/>
              </a:rPr>
              <a:t>3 versiones, cerrado con el tutor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1">
                <a:solidFill>
                  <a:srgbClr val="BF2026"/>
                </a:solidFill>
                <a:latin typeface="Calibri"/>
              </a:rPr>
              <a:t>▪ </a:t>
            </a:r>
            <a:r>
              <a:rPr sz="1100" b="0">
                <a:solidFill>
                  <a:srgbClr val="363636"/>
                </a:solidFill>
                <a:latin typeface="Calibri"/>
              </a:rPr>
              <a:t>7 categorías · escenarios S1-S4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1">
                <a:solidFill>
                  <a:srgbClr val="BF2026"/>
                </a:solidFill>
                <a:latin typeface="Calibri"/>
              </a:rPr>
              <a:t>▪ </a:t>
            </a:r>
            <a:r>
              <a:rPr sz="1100" b="0">
                <a:solidFill>
                  <a:srgbClr val="363636"/>
                </a:solidFill>
                <a:latin typeface="Calibri"/>
              </a:rPr>
              <a:t>Trazabilidad del corpus verificada</a:t>
            </a:r>
          </a:p>
        </p:txBody>
      </p:sp>
      <p:sp>
        <p:nvSpPr>
          <p:cNvPr id="17" name="Chevron 16"/>
          <p:cNvSpPr/>
          <p:nvPr/>
        </p:nvSpPr>
        <p:spPr>
          <a:xfrm>
            <a:off x="7269480" y="1371600"/>
            <a:ext cx="2359152" cy="658368"/>
          </a:xfrm>
          <a:prstGeom prst="chevron">
            <a:avLst/>
          </a:prstGeom>
          <a:solidFill>
            <a:srgbClr val="66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70648" y="1371600"/>
            <a:ext cx="2084832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AGO · SEP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7496" y="2240280"/>
            <a:ext cx="2157984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661020"/>
                </a:solidFill>
                <a:latin typeface="Calibri"/>
              </a:rPr>
              <a:t>Redacción de la memoria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7496" y="2880360"/>
            <a:ext cx="2157984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1">
                <a:solidFill>
                  <a:srgbClr val="BF2026"/>
                </a:solidFill>
                <a:latin typeface="Calibri"/>
              </a:rPr>
              <a:t>▪ </a:t>
            </a:r>
            <a:r>
              <a:rPr sz="1100" b="0">
                <a:solidFill>
                  <a:srgbClr val="363636"/>
                </a:solidFill>
                <a:latin typeface="Calibri"/>
              </a:rPr>
              <a:t>Índice aprobado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1">
                <a:solidFill>
                  <a:srgbClr val="BF2026"/>
                </a:solidFill>
                <a:latin typeface="Calibri"/>
              </a:rPr>
              <a:t>▪ </a:t>
            </a:r>
            <a:r>
              <a:rPr sz="1100" b="0">
                <a:solidFill>
                  <a:srgbClr val="363636"/>
                </a:solidFill>
                <a:latin typeface="Calibri"/>
              </a:rPr>
              <a:t>~9.000 palabras · 40 referencias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1">
                <a:solidFill>
                  <a:srgbClr val="BF2026"/>
                </a:solidFill>
                <a:latin typeface="Calibri"/>
              </a:rPr>
              <a:t>▪ </a:t>
            </a:r>
            <a:r>
              <a:rPr sz="1100" b="0">
                <a:solidFill>
                  <a:srgbClr val="363636"/>
                </a:solidFill>
                <a:latin typeface="Calibri"/>
              </a:rPr>
              <a:t>4 rondas de revisión interna</a:t>
            </a:r>
          </a:p>
        </p:txBody>
      </p:sp>
      <p:sp>
        <p:nvSpPr>
          <p:cNvPr id="21" name="Chevron 20"/>
          <p:cNvSpPr/>
          <p:nvPr/>
        </p:nvSpPr>
        <p:spPr>
          <a:xfrm>
            <a:off x="9555480" y="1371600"/>
            <a:ext cx="2359152" cy="658368"/>
          </a:xfrm>
          <a:prstGeom prst="chevron">
            <a:avLst/>
          </a:prstGeom>
          <a:solidFill>
            <a:srgbClr val="BF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6648" y="1371600"/>
            <a:ext cx="2084832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SEP · OCT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83496" y="2240280"/>
            <a:ext cx="2157984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661020"/>
                </a:solidFill>
                <a:latin typeface="Calibri"/>
              </a:rPr>
              <a:t>Prototipo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83496" y="2880360"/>
            <a:ext cx="2157984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1">
                <a:solidFill>
                  <a:srgbClr val="BF2026"/>
                </a:solidFill>
                <a:latin typeface="Calibri"/>
              </a:rPr>
              <a:t>▪ </a:t>
            </a:r>
            <a:r>
              <a:rPr sz="1100" b="0">
                <a:solidFill>
                  <a:srgbClr val="363636"/>
                </a:solidFill>
                <a:latin typeface="Calibri"/>
              </a:rPr>
              <a:t>4 ideas con demo en video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1">
                <a:solidFill>
                  <a:srgbClr val="BF2026"/>
                </a:solidFill>
                <a:latin typeface="Calibri"/>
              </a:rPr>
              <a:t>▪ </a:t>
            </a:r>
            <a:r>
              <a:rPr sz="1100" b="0">
                <a:solidFill>
                  <a:srgbClr val="363636"/>
                </a:solidFill>
                <a:latin typeface="Calibri"/>
              </a:rPr>
              <a:t>1 elegida con el tutor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1">
                <a:solidFill>
                  <a:srgbClr val="BF2026"/>
                </a:solidFill>
                <a:latin typeface="Calibri"/>
              </a:rPr>
              <a:t>▪ </a:t>
            </a:r>
            <a:r>
              <a:rPr sz="1100" b="0">
                <a:solidFill>
                  <a:srgbClr val="363636"/>
                </a:solidFill>
                <a:latin typeface="Calibri"/>
              </a:rPr>
              <a:t>Demo y dominio de prueba listos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00600"/>
            <a:ext cx="11201400" cy="1371600"/>
          </a:xfrm>
          <a:prstGeom prst="roundRect">
            <a:avLst/>
          </a:prstGeom>
          <a:solidFill>
            <a:srgbClr val="E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5029200"/>
            <a:ext cx="224028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BF2026"/>
                </a:solidFill>
                <a:latin typeface="Calibri"/>
              </a:rPr>
              <a:t>1.750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596128"/>
            <a:ext cx="22402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363636"/>
                </a:solidFill>
                <a:latin typeface="Calibri"/>
              </a:rPr>
              <a:t>trabajos revisados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5029200"/>
            <a:ext cx="224028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BF2026"/>
                </a:solidFill>
                <a:latin typeface="Calibri"/>
              </a:rPr>
              <a:t>~650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5596128"/>
            <a:ext cx="22402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363636"/>
                </a:solidFill>
                <a:latin typeface="Calibri"/>
              </a:rPr>
              <a:t>refs. de snowballing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80" y="5029200"/>
            <a:ext cx="224028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BF2026"/>
                </a:solidFill>
                <a:latin typeface="Calibri"/>
              </a:rPr>
              <a:t>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83480" y="5596128"/>
            <a:ext cx="22402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363636"/>
                </a:solidFill>
                <a:latin typeface="Calibri"/>
              </a:rPr>
              <a:t>trabajos en el marco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5029200"/>
            <a:ext cx="224028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BF2026"/>
                </a:solidFill>
                <a:latin typeface="Calibri"/>
              </a:rPr>
              <a:t>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5596128"/>
            <a:ext cx="22402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363636"/>
                </a:solidFill>
                <a:latin typeface="Calibri"/>
              </a:rPr>
              <a:t>calls con el tutor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64040" y="5029200"/>
            <a:ext cx="224028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500" b="1">
                <a:solidFill>
                  <a:srgbClr val="BF2026"/>
                </a:solidFill>
                <a:latin typeface="Calibri"/>
              </a:rPr>
              <a:t>284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4040" y="5596128"/>
            <a:ext cx="22402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363636"/>
                </a:solidFill>
                <a:latin typeface="Calibri"/>
              </a:rPr>
              <a:t>commits en el repo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661020"/>
                </a:solidFill>
                <a:latin typeface="Calibri"/>
              </a:rPr>
              <a:t>Estado actual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1371600" cy="44450"/>
          </a:xfrm>
          <a:prstGeom prst="rect">
            <a:avLst/>
          </a:prstGeom>
          <a:solidFill>
            <a:srgbClr val="BF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411480"/>
            <a:ext cx="3429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6B6B6B"/>
                </a:solidFill>
                <a:latin typeface="Calibri"/>
              </a:rPr>
              <a:t>Mes 8 de 12 · sprint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661020"/>
                </a:solidFill>
                <a:latin typeface="Calibri"/>
              </a:rPr>
              <a:t>Resultados a la fecha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5486400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>
                <a:solidFill>
                  <a:srgbClr val="BF2026"/>
                </a:solidFill>
                <a:latin typeface="Calibri"/>
              </a:rPr>
              <a:t>▪ </a:t>
            </a:r>
            <a:r>
              <a:rPr sz="1250" b="1">
                <a:solidFill>
                  <a:srgbClr val="363636"/>
                </a:solidFill>
                <a:latin typeface="Calibri"/>
              </a:rPr>
              <a:t>Marco conceptual propio cerrado: </a:t>
            </a:r>
            <a:r>
              <a:rPr sz="1250" b="0">
                <a:solidFill>
                  <a:srgbClr val="363636"/>
                </a:solidFill>
                <a:latin typeface="Calibri"/>
              </a:rPr>
              <a:t>proceso de feedback con IAG, 7 categorías, escenarios S1-S4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>
                <a:solidFill>
                  <a:srgbClr val="BF2026"/>
                </a:solidFill>
                <a:latin typeface="Calibri"/>
              </a:rPr>
              <a:t>▪ </a:t>
            </a:r>
            <a:r>
              <a:rPr sz="1250" b="1">
                <a:solidFill>
                  <a:srgbClr val="363636"/>
                </a:solidFill>
                <a:latin typeface="Calibri"/>
              </a:rPr>
              <a:t>Revisión bibliográfica integrada a la memoria: </a:t>
            </a:r>
            <a:r>
              <a:rPr sz="1250" b="0">
                <a:solidFill>
                  <a:srgbClr val="363636"/>
                </a:solidFill>
                <a:latin typeface="Calibri"/>
              </a:rPr>
              <a:t>18 trabajos, todos con origen trazado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>
                <a:solidFill>
                  <a:srgbClr val="BF2026"/>
                </a:solidFill>
                <a:latin typeface="Calibri"/>
              </a:rPr>
              <a:t>▪ </a:t>
            </a:r>
            <a:r>
              <a:rPr sz="1250" b="1">
                <a:solidFill>
                  <a:srgbClr val="363636"/>
                </a:solidFill>
                <a:latin typeface="Calibri"/>
              </a:rPr>
              <a:t>Memoria en redacción: </a:t>
            </a:r>
            <a:r>
              <a:rPr sz="1250" b="0">
                <a:solidFill>
                  <a:srgbClr val="363636"/>
                </a:solidFill>
                <a:latin typeface="Calibri"/>
              </a:rPr>
              <a:t>introducción, background y capítulo central escritos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94760"/>
            <a:ext cx="5486400" cy="2103120"/>
          </a:xfrm>
          <a:prstGeom prst="roundRect">
            <a:avLst/>
          </a:prstGeom>
          <a:solidFill>
            <a:srgbClr val="66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005072"/>
            <a:ext cx="4983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Hallazgo: doble vacío en la literatura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26280"/>
            <a:ext cx="498348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1">
                <a:solidFill>
                  <a:srgbClr val="DDD8D4"/>
                </a:solidFill>
                <a:latin typeface="Calibri"/>
              </a:rPr>
              <a:t>▪ </a:t>
            </a:r>
            <a:r>
              <a:rPr sz="1200" b="0">
                <a:solidFill>
                  <a:srgbClr val="FFFFFF"/>
                </a:solidFill>
                <a:latin typeface="Calibri"/>
              </a:rPr>
              <a:t>No hay estudios de la validación del stakeholder sobre software ya construido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1">
                <a:solidFill>
                  <a:srgbClr val="DDD8D4"/>
                </a:solidFill>
                <a:latin typeface="Calibri"/>
              </a:rPr>
              <a:t>▪ </a:t>
            </a:r>
            <a:r>
              <a:rPr sz="1200" b="0">
                <a:solidFill>
                  <a:srgbClr val="FFFFFF"/>
                </a:solidFill>
                <a:latin typeface="Calibri"/>
              </a:rPr>
              <a:t>Tampoco de la validación de lo construido contra reglas y flujos de negocio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EDEAE2"/>
                </a:solidFill>
                <a:latin typeface="Calibri"/>
              </a:rPr>
              <a:t>La PoC de la tesis apunta exactamente a ese vacío.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188720"/>
            <a:ext cx="5212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661020"/>
                </a:solidFill>
                <a:latin typeface="Calibri"/>
              </a:rPr>
              <a:t>Dónde estamos hoy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600200"/>
            <a:ext cx="521208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>
                <a:solidFill>
                  <a:srgbClr val="BF2026"/>
                </a:solidFill>
                <a:latin typeface="Calibri"/>
              </a:rPr>
              <a:t>▪ </a:t>
            </a:r>
            <a:r>
              <a:rPr sz="1250" b="1">
                <a:solidFill>
                  <a:srgbClr val="363636"/>
                </a:solidFill>
                <a:latin typeface="Calibri"/>
              </a:rPr>
              <a:t>Prototipo definido y en implementación: </a:t>
            </a:r>
            <a:r>
              <a:rPr sz="1250" b="0">
                <a:solidFill>
                  <a:srgbClr val="363636"/>
                </a:solidFill>
                <a:latin typeface="Calibri"/>
              </a:rPr>
              <a:t>asistente de sesiones de feedback, elegido entre 4 ideas con demo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>
                <a:solidFill>
                  <a:srgbClr val="BF2026"/>
                </a:solidFill>
                <a:latin typeface="Calibri"/>
              </a:rPr>
              <a:t>▪ </a:t>
            </a:r>
            <a:r>
              <a:rPr sz="1250" b="1">
                <a:solidFill>
                  <a:srgbClr val="363636"/>
                </a:solidFill>
                <a:latin typeface="Calibri"/>
              </a:rPr>
              <a:t>Ajuste metodológico acordado: </a:t>
            </a:r>
            <a:r>
              <a:rPr sz="1250" b="0">
                <a:solidFill>
                  <a:srgbClr val="363636"/>
                </a:solidFill>
                <a:latin typeface="Calibri"/>
              </a:rPr>
              <a:t>sin entrevistas; la evidencia empírica se concentra en la PoC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>
                <a:solidFill>
                  <a:srgbClr val="BF2026"/>
                </a:solidFill>
                <a:latin typeface="Calibri"/>
              </a:rPr>
              <a:t>▪ </a:t>
            </a:r>
            <a:r>
              <a:rPr sz="1250" b="1">
                <a:solidFill>
                  <a:srgbClr val="363636"/>
                </a:solidFill>
                <a:latin typeface="Calibri"/>
              </a:rPr>
              <a:t>Revisión presentada como bibliográfica, </a:t>
            </a:r>
            <a:r>
              <a:rPr sz="1250" b="0">
                <a:solidFill>
                  <a:srgbClr val="363636"/>
                </a:solidFill>
                <a:latin typeface="Calibri"/>
              </a:rPr>
              <a:t>no como SLR: el pivot de foco lo hizo más honesto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1">
                <a:solidFill>
                  <a:srgbClr val="BF2026"/>
                </a:solidFill>
                <a:latin typeface="Calibri"/>
              </a:rPr>
              <a:t>▪ </a:t>
            </a:r>
            <a:r>
              <a:rPr sz="1250" b="1">
                <a:solidFill>
                  <a:srgbClr val="363636"/>
                </a:solidFill>
                <a:latin typeface="Calibri"/>
              </a:rPr>
              <a:t>Pendiente en la memoria: </a:t>
            </a:r>
            <a:r>
              <a:rPr sz="1250" b="0">
                <a:solidFill>
                  <a:srgbClr val="363636"/>
                </a:solidFill>
                <a:latin typeface="Calibri"/>
              </a:rPr>
              <a:t>metodología, PoC y conclusiones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5257800"/>
            <a:ext cx="5212080" cy="1005840"/>
          </a:xfrm>
          <a:prstGeom prst="roundRect">
            <a:avLst/>
          </a:prstGeom>
          <a:solidFill>
            <a:srgbClr val="E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5349240"/>
            <a:ext cx="475488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661020"/>
                </a:solidFill>
                <a:latin typeface="Calibri"/>
              </a:rPr>
              <a:t>Decisiones de 20 calls con el tutor auditadas y documentadas sprint a sprint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661020"/>
                </a:solidFill>
                <a:latin typeface="Calibri"/>
              </a:rPr>
              <a:t>PoC: asistente de sesiones de feedback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1371600" cy="44450"/>
          </a:xfrm>
          <a:prstGeom prst="rect">
            <a:avLst/>
          </a:prstGeom>
          <a:solidFill>
            <a:srgbClr val="BF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411480"/>
            <a:ext cx="3429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6B6B6B"/>
                </a:solidFill>
                <a:latin typeface="Calibri"/>
              </a:rPr>
              <a:t>Objetivo F · en implementación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512064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BF2026"/>
                </a:solidFill>
                <a:latin typeface="Calibri"/>
              </a:rPr>
              <a:t>▪ </a:t>
            </a:r>
            <a:r>
              <a:rPr sz="1250" b="0">
                <a:solidFill>
                  <a:srgbClr val="363636"/>
                </a:solidFill>
                <a:latin typeface="Calibri"/>
              </a:rPr>
              <a:t>Escucha al cliente en la propia reunión de feedback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BF2026"/>
                </a:solidFill>
                <a:latin typeface="Calibri"/>
              </a:rPr>
              <a:t>▪ </a:t>
            </a:r>
            <a:r>
              <a:rPr sz="1250" b="0">
                <a:solidFill>
                  <a:srgbClr val="363636"/>
                </a:solidFill>
                <a:latin typeface="Calibri"/>
              </a:rPr>
              <a:t>Confronta cada enunciado contra la documentación del proyecto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BF2026"/>
                </a:solidFill>
                <a:latin typeface="Calibri"/>
              </a:rPr>
              <a:t>▪ </a:t>
            </a:r>
            <a:r>
              <a:rPr sz="1250" b="0">
                <a:solidFill>
                  <a:srgbClr val="363636"/>
                </a:solidFill>
                <a:latin typeface="Calibri"/>
              </a:rPr>
              <a:t>Responde al momento, con la cita exacta del documento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51206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BF2026"/>
                </a:solidFill>
                <a:latin typeface="Calibri"/>
              </a:rPr>
              <a:t>La devolución pasa de días a segundos.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291840"/>
            <a:ext cx="82296" cy="566928"/>
          </a:xfrm>
          <a:prstGeom prst="rect">
            <a:avLst/>
          </a:prstGeom>
          <a:solidFill>
            <a:srgbClr val="BF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85216" y="3291840"/>
            <a:ext cx="5029200" cy="566928"/>
          </a:xfrm>
          <a:prstGeom prst="roundRect">
            <a:avLst/>
          </a:prstGeom>
          <a:solidFill>
            <a:srgbClr val="E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291840"/>
            <a:ext cx="47548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BF2026"/>
                </a:solidFill>
                <a:latin typeface="Calibri"/>
              </a:rPr>
              <a:t>Choca con lo acordado · </a:t>
            </a:r>
            <a:r>
              <a:rPr sz="1150" b="0">
                <a:solidFill>
                  <a:srgbClr val="363636"/>
                </a:solidFill>
                <a:latin typeface="Calibri"/>
              </a:rPr>
              <a:t>cita el documento que contradice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005072"/>
            <a:ext cx="82296" cy="566928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85216" y="4005072"/>
            <a:ext cx="5029200" cy="566928"/>
          </a:xfrm>
          <a:prstGeom prst="roundRect">
            <a:avLst/>
          </a:prstGeom>
          <a:solidFill>
            <a:srgbClr val="E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005072"/>
            <a:ext cx="47548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2E7D4F"/>
                </a:solidFill>
                <a:latin typeface="Calibri"/>
              </a:rPr>
              <a:t>Coincide con lo acordado · </a:t>
            </a:r>
            <a:r>
              <a:rPr sz="1150" b="0">
                <a:solidFill>
                  <a:srgbClr val="363636"/>
                </a:solidFill>
                <a:latin typeface="Calibri"/>
              </a:rPr>
              <a:t>confirmación instantánea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718304"/>
            <a:ext cx="82296" cy="56692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85216" y="4718304"/>
            <a:ext cx="5029200" cy="566928"/>
          </a:xfrm>
          <a:prstGeom prst="roundRect">
            <a:avLst/>
          </a:prstGeom>
          <a:solidFill>
            <a:srgbClr val="E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18304"/>
            <a:ext cx="47548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B8860B"/>
                </a:solidFill>
                <a:latin typeface="Calibri"/>
              </a:rPr>
              <a:t>No está contemplado · </a:t>
            </a:r>
            <a:r>
              <a:rPr sz="1150" b="0">
                <a:solidFill>
                  <a:srgbClr val="363636"/>
                </a:solidFill>
                <a:latin typeface="Calibri"/>
              </a:rPr>
              <a:t>pedido nuevo: se prioriza, puede salir como ticket</a:t>
            </a:r>
          </a:p>
        </p:txBody>
      </p:sp>
      <p:pic>
        <p:nvPicPr>
          <p:cNvPr id="16" name="Picture 15" descr="frame_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234440"/>
            <a:ext cx="5852160" cy="3291840"/>
          </a:xfrm>
          <a:prstGeom prst="rect">
            <a:avLst/>
          </a:prstGeom>
          <a:ln w="12700">
            <a:solidFill>
              <a:srgbClr val="DDD8D4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897880" y="4572000"/>
            <a:ext cx="5852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6B6B6B"/>
                </a:solidFill>
                <a:latin typeface="Calibri"/>
              </a:rPr>
              <a:t>Demo del prototipo · dominio de prueba: biblioteca universitaria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760720"/>
            <a:ext cx="11201400" cy="685800"/>
          </a:xfrm>
          <a:prstGeom prst="roundRect">
            <a:avLst/>
          </a:prstGeom>
          <a:solidFill>
            <a:srgbClr val="ED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806440"/>
            <a:ext cx="1069848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661020"/>
                </a:solidFill>
                <a:latin typeface="Calibri"/>
              </a:rPr>
              <a:t>Estado: demo visual lista · documentación de prueba con una contradicción y un hueco plantados · aplicación web en desarrollo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661020"/>
                </a:solidFill>
                <a:latin typeface="Calibri"/>
              </a:rPr>
              <a:t>Próximos pasos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1371600" cy="44450"/>
          </a:xfrm>
          <a:prstGeom prst="rect">
            <a:avLst/>
          </a:prstGeom>
          <a:solidFill>
            <a:srgbClr val="BF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411480"/>
            <a:ext cx="3429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6B6B6B"/>
                </a:solidFill>
                <a:latin typeface="Calibri"/>
              </a:rPr>
              <a:t>Octubre 2026 · marzo 2027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1737360" cy="841248"/>
          </a:xfrm>
          <a:prstGeom prst="roundRect">
            <a:avLst/>
          </a:prstGeom>
          <a:solidFill>
            <a:srgbClr val="66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73736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OCT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1389888"/>
            <a:ext cx="283464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661020"/>
                </a:solidFill>
                <a:latin typeface="Calibri"/>
              </a:rPr>
              <a:t>PoC paso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389888"/>
            <a:ext cx="61264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>
                <a:solidFill>
                  <a:srgbClr val="363636"/>
                </a:solidFill>
                <a:latin typeface="Calibri"/>
              </a:rPr>
              <a:t>Entrada escrita confrontada contra la documentación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276856"/>
            <a:ext cx="1737360" cy="841248"/>
          </a:xfrm>
          <a:prstGeom prst="roundRect">
            <a:avLst/>
          </a:prstGeom>
          <a:solidFill>
            <a:srgbClr val="66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76856"/>
            <a:ext cx="173736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OCT · NOV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340864"/>
            <a:ext cx="283464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661020"/>
                </a:solidFill>
                <a:latin typeface="Calibri"/>
              </a:rPr>
              <a:t>PoC paso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2340864"/>
            <a:ext cx="61264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>
                <a:solidFill>
                  <a:srgbClr val="363636"/>
                </a:solidFill>
                <a:latin typeface="Calibri"/>
              </a:rPr>
              <a:t>Micrófono y transcripción en vivo; documentación anonimizada de un proyecto real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27832"/>
            <a:ext cx="1737360" cy="841248"/>
          </a:xfrm>
          <a:prstGeom prst="roundRect">
            <a:avLst/>
          </a:prstGeom>
          <a:solidFill>
            <a:srgbClr val="66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27832"/>
            <a:ext cx="173736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NOV · DIC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291840"/>
            <a:ext cx="283464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661020"/>
                </a:solidFill>
                <a:latin typeface="Calibri"/>
              </a:rPr>
              <a:t>Validación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3291840"/>
            <a:ext cx="61264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>
                <a:solidFill>
                  <a:srgbClr val="363636"/>
                </a:solidFill>
                <a:latin typeface="Calibri"/>
              </a:rPr>
              <a:t>Sesiones con 5 a 20 actores de negocio; registro estructurado de cada sesión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78808"/>
            <a:ext cx="1737360" cy="841248"/>
          </a:xfrm>
          <a:prstGeom prst="roundRect">
            <a:avLst/>
          </a:prstGeom>
          <a:solidFill>
            <a:srgbClr val="66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178808"/>
            <a:ext cx="173736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DIC · FEB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4242816"/>
            <a:ext cx="283464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661020"/>
                </a:solidFill>
                <a:latin typeface="Calibri"/>
              </a:rPr>
              <a:t>Cierre de la memoria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4242816"/>
            <a:ext cx="61264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>
                <a:solidFill>
                  <a:srgbClr val="363636"/>
                </a:solidFill>
                <a:latin typeface="Calibri"/>
              </a:rPr>
              <a:t>Análisis de resultados, capítulo de la PoC, metodología y conclusiones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9784"/>
            <a:ext cx="1737360" cy="841248"/>
          </a:xfrm>
          <a:prstGeom prst="roundRect">
            <a:avLst/>
          </a:prstGeom>
          <a:solidFill>
            <a:srgbClr val="BF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129784"/>
            <a:ext cx="173736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MAR 2027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5193792"/>
            <a:ext cx="283464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661020"/>
                </a:solidFill>
                <a:latin typeface="Calibri"/>
              </a:rPr>
              <a:t>Entrega final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5193792"/>
            <a:ext cx="61264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>
                <a:solidFill>
                  <a:srgbClr val="363636"/>
                </a:solidFill>
                <a:latin typeface="Calibri"/>
              </a:rPr>
              <a:t>Documento completo y defensa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1">
                <a:solidFill>
                  <a:srgbClr val="6B6B6B"/>
                </a:solidFill>
                <a:latin typeface="Calibri"/>
              </a:rPr>
              <a:t>A acordar con el tutor: mecanismo de consulta de la documentación y diseño fino de la validación de la PoC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